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0693400" cy="7556500"/>
  <p:notesSz cx="6858000" cy="9144000"/>
  <p:embeddedFontLst>
    <p:embeddedFont>
      <p:font typeface="Calibri" panose="020F0502020204030204" pitchFamily="34" charset="0"/>
      <p:regular r:id="rId3"/>
      <p:bold r:id="rId4"/>
      <p:italic r:id="rId5"/>
      <p:boldItalic r:id="rId6"/>
    </p:embeddedFont>
    <p:embeddedFont>
      <p:font typeface="The Seasons" panose="020B0604020202020204" charset="0"/>
      <p:regular r:id="rId7"/>
    </p:embeddedFont>
    <p:embeddedFont>
      <p:font typeface="TT Hoves" panose="020B0604020202020204" charset="0"/>
      <p:regular r:id="rId8"/>
    </p:embeddedFont>
    <p:embeddedFont>
      <p:font typeface="TT Hoves Bold" panose="020B0604020202020204" charset="0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9" d="100"/>
          <a:sy n="79" d="100"/>
        </p:scale>
        <p:origin x="119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6.fntdata"/><Relationship Id="rId13" Type="http://schemas.openxmlformats.org/officeDocument/2006/relationships/tableStyles" Target="tableStyles.xml"/><Relationship Id="rId3" Type="http://schemas.openxmlformats.org/officeDocument/2006/relationships/font" Target="fonts/font1.fntdata"/><Relationship Id="rId7" Type="http://schemas.openxmlformats.org/officeDocument/2006/relationships/font" Target="fonts/font5.fntdata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11" Type="http://schemas.openxmlformats.org/officeDocument/2006/relationships/viewProps" Target="viewProps.xml"/><Relationship Id="rId5" Type="http://schemas.openxmlformats.org/officeDocument/2006/relationships/font" Target="fonts/font3.fntdata"/><Relationship Id="rId10" Type="http://schemas.openxmlformats.org/officeDocument/2006/relationships/presProps" Target="presProps.xml"/><Relationship Id="rId4" Type="http://schemas.openxmlformats.org/officeDocument/2006/relationships/font" Target="fonts/font2.fntdata"/><Relationship Id="rId9" Type="http://schemas.openxmlformats.org/officeDocument/2006/relationships/font" Target="fonts/font7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B1F00C1D-F66A-4428-A921-7079190A8B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0" y="0"/>
            <a:ext cx="10688119" cy="75565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2808753" y="6750825"/>
            <a:ext cx="5074494" cy="2636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68"/>
              </a:lnSpc>
              <a:spcBef>
                <a:spcPct val="0"/>
              </a:spcBef>
            </a:pPr>
            <a:r>
              <a:rPr lang="en-US" sz="1620" b="1" u="sng" dirty="0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Dr. </a:t>
            </a:r>
            <a:r>
              <a:rPr lang="en-US" sz="1620" b="1" u="sng" dirty="0" err="1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Fitriani</a:t>
            </a:r>
            <a:r>
              <a:rPr lang="en-US" sz="1620" b="1" u="sng" dirty="0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, AP., </a:t>
            </a:r>
            <a:r>
              <a:rPr lang="en-US" sz="1620" b="1" u="sng" dirty="0" err="1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M.Si</a:t>
            </a:r>
            <a:r>
              <a:rPr lang="en-US" sz="1620" b="1" u="sng" dirty="0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099819" y="7019804"/>
            <a:ext cx="2378416" cy="2636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68"/>
              </a:lnSpc>
              <a:spcBef>
                <a:spcPct val="0"/>
              </a:spcBef>
            </a:pPr>
            <a:r>
              <a:rPr lang="en-US" sz="162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NIP. 197410171993112001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34951" y="2920748"/>
            <a:ext cx="10022098" cy="4406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92"/>
              </a:lnSpc>
            </a:pPr>
            <a:r>
              <a:rPr lang="en-US" sz="4200" spc="-155" dirty="0">
                <a:solidFill>
                  <a:srgbClr val="D5A727"/>
                </a:solidFill>
                <a:latin typeface="The Seasons"/>
                <a:ea typeface="The Seasons"/>
                <a:cs typeface="The Seasons"/>
                <a:sym typeface="The Seasons"/>
              </a:rPr>
              <a:t>{{</a:t>
            </a:r>
            <a:r>
              <a:rPr lang="en-US" sz="4200" spc="-155" dirty="0" err="1">
                <a:solidFill>
                  <a:srgbClr val="D5A727"/>
                </a:solidFill>
                <a:latin typeface="The Seasons"/>
                <a:ea typeface="The Seasons"/>
                <a:cs typeface="The Seasons"/>
                <a:sym typeface="The Seasons"/>
              </a:rPr>
              <a:t>nama</a:t>
            </a:r>
            <a:r>
              <a:rPr lang="en-US" sz="4200" spc="-155" dirty="0">
                <a:solidFill>
                  <a:srgbClr val="D5A727"/>
                </a:solidFill>
                <a:latin typeface="The Seasons"/>
                <a:ea typeface="The Seasons"/>
                <a:cs typeface="The Seasons"/>
                <a:sym typeface="The Seasons"/>
              </a:rPr>
              <a:t>}}</a:t>
            </a:r>
          </a:p>
        </p:txBody>
      </p:sp>
      <p:sp>
        <p:nvSpPr>
          <p:cNvPr id="8" name="Freeform 8"/>
          <p:cNvSpPr/>
          <p:nvPr/>
        </p:nvSpPr>
        <p:spPr>
          <a:xfrm>
            <a:off x="4946064" y="163656"/>
            <a:ext cx="799872" cy="723634"/>
          </a:xfrm>
          <a:custGeom>
            <a:avLst/>
            <a:gdLst/>
            <a:ahLst/>
            <a:cxnLst/>
            <a:rect l="l" t="t" r="r" b="b"/>
            <a:pathLst>
              <a:path w="799872" h="723634">
                <a:moveTo>
                  <a:pt x="0" y="0"/>
                </a:moveTo>
                <a:lnTo>
                  <a:pt x="799872" y="0"/>
                </a:lnTo>
                <a:lnTo>
                  <a:pt x="799872" y="723635"/>
                </a:lnTo>
                <a:lnTo>
                  <a:pt x="0" y="7236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2866687" y="3355603"/>
            <a:ext cx="4994561" cy="77636"/>
          </a:xfrm>
          <a:custGeom>
            <a:avLst/>
            <a:gdLst/>
            <a:ahLst/>
            <a:cxnLst/>
            <a:rect l="l" t="t" r="r" b="b"/>
            <a:pathLst>
              <a:path w="4994561" h="77636">
                <a:moveTo>
                  <a:pt x="0" y="0"/>
                </a:moveTo>
                <a:lnTo>
                  <a:pt x="4994561" y="0"/>
                </a:lnTo>
                <a:lnTo>
                  <a:pt x="4994561" y="77635"/>
                </a:lnTo>
                <a:lnTo>
                  <a:pt x="0" y="776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909338" y="953966"/>
            <a:ext cx="6873324" cy="811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sz="4800" spc="571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SERTIFIKAT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435753" y="2291384"/>
            <a:ext cx="5820493" cy="264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242424"/>
                </a:solidFill>
                <a:latin typeface="TT Hoves"/>
                <a:ea typeface="TT Hoves"/>
                <a:cs typeface="TT Hoves"/>
                <a:sym typeface="TT Hoves"/>
              </a:rPr>
              <a:t>Diberikan Kepada: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34951" y="3507685"/>
            <a:ext cx="10022098" cy="1108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 spc="47" dirty="0" err="1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Atas</a:t>
            </a:r>
            <a:r>
              <a:rPr lang="en-US" sz="1599" spc="47" dirty="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 </a:t>
            </a:r>
            <a:r>
              <a:rPr lang="en-US" sz="1599" spc="47" dirty="0" err="1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partisipasi</a:t>
            </a:r>
            <a:r>
              <a:rPr lang="en-US" sz="1599" spc="47" dirty="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 </a:t>
            </a:r>
            <a:r>
              <a:rPr lang="en-US" sz="1599" spc="47" dirty="0" err="1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sebagai</a:t>
            </a:r>
            <a:r>
              <a:rPr lang="en-US" sz="1599" spc="47" dirty="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 {{</a:t>
            </a:r>
            <a:r>
              <a:rPr lang="en-US" sz="1599" spc="47" dirty="0" err="1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peran</a:t>
            </a:r>
            <a:r>
              <a:rPr lang="en-US" sz="1599" spc="47" dirty="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}} </a:t>
            </a:r>
            <a:r>
              <a:rPr lang="en-US" sz="1599" spc="47" dirty="0" err="1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dalam</a:t>
            </a:r>
            <a:r>
              <a:rPr lang="en-US" sz="1599" spc="47" dirty="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 </a:t>
            </a:r>
            <a:r>
              <a:rPr lang="en-US" sz="1599" spc="47" dirty="0" err="1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kegiatan</a:t>
            </a:r>
            <a:r>
              <a:rPr lang="en-US" sz="1599" spc="47" dirty="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 </a:t>
            </a:r>
          </a:p>
          <a:p>
            <a:pPr algn="ctr">
              <a:lnSpc>
                <a:spcPts val="2239"/>
              </a:lnSpc>
            </a:pPr>
            <a:r>
              <a:rPr lang="en-US" sz="1599" b="1" spc="47" dirty="0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{{</a:t>
            </a:r>
            <a:r>
              <a:rPr lang="en-US" sz="1599" b="1" spc="47" dirty="0" err="1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nama_kegiatan</a:t>
            </a:r>
            <a:r>
              <a:rPr lang="en-US" sz="1599" b="1" spc="47" dirty="0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}}</a:t>
            </a:r>
          </a:p>
          <a:p>
            <a:pPr algn="ctr">
              <a:lnSpc>
                <a:spcPts val="2239"/>
              </a:lnSpc>
            </a:pPr>
            <a:r>
              <a:rPr lang="en-US" sz="1599" spc="47" dirty="0" err="1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dengan</a:t>
            </a:r>
            <a:r>
              <a:rPr lang="en-US" sz="1599" spc="47" dirty="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 </a:t>
            </a:r>
            <a:r>
              <a:rPr lang="en-US" sz="1599" spc="47" dirty="0" err="1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tema</a:t>
            </a:r>
            <a:r>
              <a:rPr lang="en-US" sz="1599" spc="47" dirty="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 “{{</a:t>
            </a:r>
            <a:r>
              <a:rPr lang="en-US" sz="1599" spc="47" dirty="0" err="1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judul_kegiatan</a:t>
            </a:r>
            <a:r>
              <a:rPr lang="en-US" sz="1599" spc="47" dirty="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}}” </a:t>
            </a:r>
          </a:p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 spc="47" dirty="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yang </a:t>
            </a:r>
            <a:r>
              <a:rPr lang="en-US" sz="1599" spc="47" dirty="0" err="1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diselenggarakan</a:t>
            </a:r>
            <a:r>
              <a:rPr lang="en-US" sz="1599" spc="47" dirty="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 </a:t>
            </a:r>
            <a:r>
              <a:rPr lang="en-US" sz="1599" spc="47" dirty="0" err="1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selama</a:t>
            </a:r>
            <a:r>
              <a:rPr lang="en-US" sz="1599" spc="47" dirty="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 </a:t>
            </a:r>
            <a:r>
              <a:rPr lang="en-US" sz="1599" b="1" spc="47" dirty="0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2 JP</a:t>
            </a:r>
            <a:r>
              <a:rPr lang="en-US" sz="1599" spc="47" dirty="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 oleh </a:t>
            </a:r>
            <a:r>
              <a:rPr lang="en-US" sz="1599" spc="47" dirty="0" err="1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Sekretariat</a:t>
            </a:r>
            <a:r>
              <a:rPr lang="en-US" sz="1599" spc="47" dirty="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 </a:t>
            </a:r>
            <a:r>
              <a:rPr lang="en-US" sz="1599" spc="47" dirty="0" err="1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Jenderal</a:t>
            </a:r>
            <a:r>
              <a:rPr lang="en-US" sz="1599" spc="47" dirty="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 DPD RI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632575" y="5046042"/>
            <a:ext cx="5426849" cy="2562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0"/>
              </a:lnSpc>
            </a:pPr>
            <a:r>
              <a:rPr lang="en-US" sz="1535" dirty="0" err="1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Kepala</a:t>
            </a:r>
            <a:r>
              <a:rPr lang="en-US" sz="1535" dirty="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 Biro </a:t>
            </a:r>
            <a:r>
              <a:rPr lang="en-US" sz="1535" dirty="0" err="1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Organisasi</a:t>
            </a:r>
            <a:r>
              <a:rPr lang="en-US" sz="1535" dirty="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, </a:t>
            </a:r>
            <a:r>
              <a:rPr lang="en-US" sz="1535" dirty="0" err="1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Keanggotaan</a:t>
            </a:r>
            <a:r>
              <a:rPr lang="en-US" sz="1535" dirty="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, dan </a:t>
            </a:r>
            <a:r>
              <a:rPr lang="en-US" sz="1535" dirty="0" err="1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Kepegawaian</a:t>
            </a:r>
            <a:endParaRPr lang="en-US" sz="1535" dirty="0">
              <a:solidFill>
                <a:srgbClr val="000000"/>
              </a:solidFill>
              <a:latin typeface="TT Hoves"/>
              <a:ea typeface="TT Hoves"/>
              <a:cs typeface="TT Hoves"/>
              <a:sym typeface="TT Hoves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2396878" y="1736980"/>
            <a:ext cx="5898244" cy="264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 spc="54" dirty="0" err="1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Nomor</a:t>
            </a:r>
            <a:r>
              <a:rPr lang="en-US" sz="1599" spc="54" dirty="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 : {{</a:t>
            </a:r>
            <a:r>
              <a:rPr lang="en-US" sz="1599" spc="54" dirty="0" err="1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nomor_sertifikat</a:t>
            </a:r>
            <a:r>
              <a:rPr lang="en-US" sz="1599" spc="54" dirty="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}}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108845" y="4817442"/>
            <a:ext cx="2474311" cy="2604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2155"/>
              </a:lnSpc>
              <a:spcBef>
                <a:spcPct val="0"/>
              </a:spcBef>
            </a:pPr>
            <a:r>
              <a:rPr lang="en-US" sz="1539" dirty="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Jakarta, {{</a:t>
            </a:r>
            <a:r>
              <a:rPr lang="en-US" sz="1539" dirty="0" err="1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tanggal</a:t>
            </a:r>
            <a:r>
              <a:rPr lang="en-US" sz="1539" dirty="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}}</a:t>
            </a:r>
          </a:p>
        </p:txBody>
      </p:sp>
      <p:sp>
        <p:nvSpPr>
          <p:cNvPr id="18" name="Freeform 18"/>
          <p:cNvSpPr/>
          <p:nvPr/>
        </p:nvSpPr>
        <p:spPr>
          <a:xfrm>
            <a:off x="792000" y="6855349"/>
            <a:ext cx="2342804" cy="607855"/>
          </a:xfrm>
          <a:custGeom>
            <a:avLst/>
            <a:gdLst/>
            <a:ahLst/>
            <a:cxnLst/>
            <a:rect l="l" t="t" r="r" b="b"/>
            <a:pathLst>
              <a:path w="2342804" h="607855">
                <a:moveTo>
                  <a:pt x="0" y="0"/>
                </a:moveTo>
                <a:lnTo>
                  <a:pt x="2342804" y="0"/>
                </a:lnTo>
                <a:lnTo>
                  <a:pt x="2342804" y="607856"/>
                </a:lnTo>
                <a:lnTo>
                  <a:pt x="0" y="60785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415"/>
            </a:stretch>
          </a:blipFill>
        </p:spPr>
      </p:sp>
      <p:sp>
        <p:nvSpPr>
          <p:cNvPr id="19" name="TextBox 14">
            <a:extLst>
              <a:ext uri="{FF2B5EF4-FFF2-40B4-BE49-F238E27FC236}">
                <a16:creationId xmlns:a16="http://schemas.microsoft.com/office/drawing/2014/main" id="{E41FF4A2-3979-4EFD-BAF8-D5C374C45598}"/>
              </a:ext>
            </a:extLst>
          </p:cNvPr>
          <p:cNvSpPr txBox="1"/>
          <p:nvPr/>
        </p:nvSpPr>
        <p:spPr>
          <a:xfrm>
            <a:off x="4736068" y="5530850"/>
            <a:ext cx="1214539" cy="11078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endParaRPr lang="en-US" sz="800" spc="54" dirty="0">
              <a:solidFill>
                <a:srgbClr val="000000"/>
              </a:solidFill>
              <a:latin typeface="TT Hoves"/>
              <a:ea typeface="TT Hoves"/>
              <a:cs typeface="TT Hoves"/>
              <a:sym typeface="TT Hoves"/>
            </a:endParaRPr>
          </a:p>
          <a:p>
            <a:pPr algn="ctr">
              <a:spcBef>
                <a:spcPct val="0"/>
              </a:spcBef>
            </a:pPr>
            <a:endParaRPr lang="en-US" sz="800" spc="54" dirty="0">
              <a:solidFill>
                <a:srgbClr val="000000"/>
              </a:solidFill>
              <a:latin typeface="TT Hoves"/>
              <a:ea typeface="TT Hoves"/>
              <a:cs typeface="TT Hoves"/>
              <a:sym typeface="TT Hoves"/>
            </a:endParaRPr>
          </a:p>
          <a:p>
            <a:pPr algn="ctr">
              <a:spcBef>
                <a:spcPct val="0"/>
              </a:spcBef>
            </a:pPr>
            <a:endParaRPr lang="en-US" sz="800" spc="54" dirty="0">
              <a:solidFill>
                <a:srgbClr val="000000"/>
              </a:solidFill>
              <a:latin typeface="TT Hoves"/>
              <a:ea typeface="TT Hoves"/>
              <a:cs typeface="TT Hoves"/>
              <a:sym typeface="TT Hoves"/>
            </a:endParaRPr>
          </a:p>
          <a:p>
            <a:pPr algn="ctr">
              <a:spcBef>
                <a:spcPct val="0"/>
              </a:spcBef>
            </a:pPr>
            <a:r>
              <a:rPr lang="en-US" sz="1599" spc="54" dirty="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{{</a:t>
            </a:r>
            <a:r>
              <a:rPr lang="en-US" sz="1599" spc="54" dirty="0" err="1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tte</a:t>
            </a:r>
            <a:r>
              <a:rPr lang="en-US" sz="1599" spc="54" dirty="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}}</a:t>
            </a:r>
          </a:p>
          <a:p>
            <a:pPr algn="ctr">
              <a:spcBef>
                <a:spcPct val="0"/>
              </a:spcBef>
            </a:pPr>
            <a:endParaRPr lang="en-US" sz="800" spc="54" dirty="0">
              <a:solidFill>
                <a:srgbClr val="000000"/>
              </a:solidFill>
              <a:latin typeface="TT Hoves"/>
              <a:ea typeface="TT Hoves"/>
              <a:cs typeface="TT Hoves"/>
              <a:sym typeface="TT Hoves"/>
            </a:endParaRPr>
          </a:p>
          <a:p>
            <a:pPr algn="ctr">
              <a:spcBef>
                <a:spcPct val="0"/>
              </a:spcBef>
            </a:pPr>
            <a:endParaRPr lang="en-US" sz="800" spc="54" dirty="0">
              <a:solidFill>
                <a:srgbClr val="000000"/>
              </a:solidFill>
              <a:latin typeface="TT Hoves"/>
              <a:ea typeface="TT Hoves"/>
              <a:cs typeface="TT Hoves"/>
              <a:sym typeface="TT Hoves"/>
            </a:endParaRPr>
          </a:p>
          <a:p>
            <a:pPr algn="ctr">
              <a:spcBef>
                <a:spcPct val="0"/>
              </a:spcBef>
            </a:pPr>
            <a:endParaRPr lang="en-US" sz="800" spc="54" dirty="0">
              <a:solidFill>
                <a:srgbClr val="000000"/>
              </a:solidFill>
              <a:latin typeface="TT Hoves"/>
              <a:ea typeface="TT Hoves"/>
              <a:cs typeface="TT Hoves"/>
              <a:sym typeface="TT Hoves"/>
            </a:endParaRPr>
          </a:p>
          <a:p>
            <a:pPr algn="ctr">
              <a:spcBef>
                <a:spcPct val="0"/>
              </a:spcBef>
            </a:pPr>
            <a:endParaRPr lang="en-US" sz="800" spc="54" dirty="0">
              <a:solidFill>
                <a:srgbClr val="000000"/>
              </a:solidFill>
              <a:latin typeface="TT Hoves"/>
              <a:ea typeface="TT Hoves"/>
              <a:cs typeface="TT Hoves"/>
              <a:sym typeface="TT Hove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73</Words>
  <Application>Microsoft Office PowerPoint</Application>
  <PresentationFormat>Custom</PresentationFormat>
  <Paragraphs>18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TT Hoves Bold</vt:lpstr>
      <vt:lpstr>Calibri</vt:lpstr>
      <vt:lpstr>TT Hoves</vt:lpstr>
      <vt:lpstr>Arial</vt:lpstr>
      <vt:lpstr>The Seasons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Sertifikat Webinar CERITA KITA</dc:title>
  <cp:lastModifiedBy>Maman Durahman</cp:lastModifiedBy>
  <cp:revision>11</cp:revision>
  <dcterms:created xsi:type="dcterms:W3CDTF">2006-08-16T00:00:00Z</dcterms:created>
  <dcterms:modified xsi:type="dcterms:W3CDTF">2026-03-10T03:56:12Z</dcterms:modified>
  <dc:identifier>DAHAad-03No</dc:identifier>
</cp:coreProperties>
</file>